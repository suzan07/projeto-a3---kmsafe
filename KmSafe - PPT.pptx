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529B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Felipe" userId="3fc34eb6237f9728" providerId="LiveId" clId="{556836A4-A631-4309-865C-9A81A66139A6}"/>
    <pc:docChg chg="delSld">
      <pc:chgData name="Lucas Felipe" userId="3fc34eb6237f9728" providerId="LiveId" clId="{556836A4-A631-4309-865C-9A81A66139A6}" dt="2026-06-18T16:46:05.472" v="5" actId="47"/>
      <pc:docMkLst>
        <pc:docMk/>
      </pc:docMkLst>
      <pc:sldChg chg="del">
        <pc:chgData name="Lucas Felipe" userId="3fc34eb6237f9728" providerId="LiveId" clId="{556836A4-A631-4309-865C-9A81A66139A6}" dt="2026-06-18T16:46:05.472" v="5" actId="47"/>
        <pc:sldMkLst>
          <pc:docMk/>
          <pc:sldMk cId="4201013800" sldId="262"/>
        </pc:sldMkLst>
      </pc:sldChg>
      <pc:sldChg chg="del">
        <pc:chgData name="Lucas Felipe" userId="3fc34eb6237f9728" providerId="LiveId" clId="{556836A4-A631-4309-865C-9A81A66139A6}" dt="2026-06-18T16:46:01.822" v="2" actId="47"/>
        <pc:sldMkLst>
          <pc:docMk/>
          <pc:sldMk cId="3353437507" sldId="263"/>
        </pc:sldMkLst>
      </pc:sldChg>
      <pc:sldChg chg="del">
        <pc:chgData name="Lucas Felipe" userId="3fc34eb6237f9728" providerId="LiveId" clId="{556836A4-A631-4309-865C-9A81A66139A6}" dt="2026-06-18T16:46:03.833" v="4" actId="47"/>
        <pc:sldMkLst>
          <pc:docMk/>
          <pc:sldMk cId="2527403471" sldId="264"/>
        </pc:sldMkLst>
      </pc:sldChg>
      <pc:sldChg chg="del">
        <pc:chgData name="Lucas Felipe" userId="3fc34eb6237f9728" providerId="LiveId" clId="{556836A4-A631-4309-865C-9A81A66139A6}" dt="2026-06-18T16:46:00.415" v="1" actId="47"/>
        <pc:sldMkLst>
          <pc:docMk/>
          <pc:sldMk cId="2886856715" sldId="265"/>
        </pc:sldMkLst>
      </pc:sldChg>
      <pc:sldChg chg="del">
        <pc:chgData name="Lucas Felipe" userId="3fc34eb6237f9728" providerId="LiveId" clId="{556836A4-A631-4309-865C-9A81A66139A6}" dt="2026-06-18T16:45:57.887" v="0" actId="47"/>
        <pc:sldMkLst>
          <pc:docMk/>
          <pc:sldMk cId="588765959" sldId="266"/>
        </pc:sldMkLst>
      </pc:sldChg>
      <pc:sldChg chg="del">
        <pc:chgData name="Lucas Felipe" userId="3fc34eb6237f9728" providerId="LiveId" clId="{556836A4-A631-4309-865C-9A81A66139A6}" dt="2026-06-18T16:46:02.908" v="3" actId="47"/>
        <pc:sldMkLst>
          <pc:docMk/>
          <pc:sldMk cId="1774308123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BA32E-9A9B-4606-AC61-F671E2C44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4F4888-5C2D-44F6-AEE4-1DA003231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C35774-7C67-4239-BBBC-4AAC91E12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51E68C-0217-4646-9661-0181A69F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FF6043-A07A-40B3-B8FC-466DD05A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3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45CDA-040C-45FA-A7B4-9188857F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F76CE4-3BB9-46C6-A06A-A4F38D18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61137F-F8CC-4EFB-B932-399106A6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24E454-6F90-46CF-9D94-C1C845EE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D3E33F-95B3-4A6C-A0DD-9DA5AA54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93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9C984-CDED-4D4F-8BF3-67D37A1F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BE0368-5197-4D3A-8E5B-C4146364F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D264C2-E1FC-4E49-8A49-34B939860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EE1615-B61A-40AA-8F31-F55AE66B4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F13153-1DA9-4197-AFDA-9CA06011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77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D8968-A648-4F05-B8B8-D297B2A5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F7D291-B260-45A0-8ADE-E4225313B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08F1C1-7BE9-445B-B7E7-DEBEF0427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01B223-F7BE-46D6-9D86-A5F6AF08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B140EC-F52D-4BC3-868F-C963237F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E1D48B-370C-414F-A13D-06030C1B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45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DC0DE-8C62-4E3F-BA8C-965E6CE7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24AA66-9846-4FE9-B40A-7E433BD5B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E64D17-5ED5-49D9-927B-A8CF4486E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D5AB6C-C8DB-44D3-B043-BAB3A7D38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DE44A5-DE77-45C4-8D71-81F4A29C8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D499DD7-D99D-4A54-8BF7-B2B2F1389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BD77BEC-51F4-47A5-B49F-BE44F5DE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BEB758-D5E5-4672-8807-270D00FE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1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7C8A3-0A8E-4B9C-AEFB-591E1D000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2E3433-A46C-46E2-8ECE-330846B3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E7E207-81EE-408F-B1EB-58CD653F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D90093-D576-4D7A-9680-CBBCB456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95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2C343D-9ED4-4C18-A9FF-FCC4D0CC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97836C-AB8C-401D-A6A9-95537D96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6CA21F-8904-4DBA-9019-76E0DC1C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19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4676E-C8FD-4544-B486-3E72E63C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A625F3-EDF9-4CDB-B411-AF3F5E58F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EF19F8-EC61-4C17-A516-649FCBD3B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BD492C-D790-40FF-A0E9-CAC80707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21CA7C-12D3-4438-B733-0F3FB3ED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1BE40D-DE47-49E6-A662-86CB8C6A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85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6C401-26E2-4E41-9D5E-D7AC1D35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D0CCA04-D71D-4EB2-A7A7-8C27B0383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F0E6ED-815B-4762-9A81-596E16FBB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0CDAB0-83D2-4786-B0D2-84EBD868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B94069-CAFC-4071-8543-AC371089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770C8E-30CC-48A3-AF57-116B4F95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402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40667F-D09F-4491-AB4A-3FB445BA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48D3C2-4A98-4FFC-AF4C-363C9E791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5EF3BD-D3CB-4BB0-A6DB-478E7FA0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C703EC-2182-484A-B8DB-C627392E6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C5AA6B-CAB4-43F8-BF0E-E56477D8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969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261964-AA1B-40B1-8799-162F833C0F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FB2815-76A5-497B-A583-B82084BA1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E4E972-6039-4707-A891-46BBB832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55B5E3-42BC-470C-A4C2-2138B03B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4BB3D2-F069-41D0-A2C9-38133904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60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89578CF-3358-4A35-8CD1-DF1E72C2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19268C-82AE-48A6-8FA5-E679664A7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AC4559-638E-49A9-A0B2-A3B54ED164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C1625-1E14-4CFD-B36C-3935B792F528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8CAB00-3077-4033-B830-473F10390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7DD489-CB84-4986-9869-659557361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003CA-4CD1-4BB0-AF0E-72B3A761D1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11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65BEA96-E9B2-41F5-A5C8-6D7CE860E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11" r="14342"/>
          <a:stretch/>
        </p:blipFill>
        <p:spPr>
          <a:xfrm>
            <a:off x="6096000" y="0"/>
            <a:ext cx="6646334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44826E0-871F-4684-A8FC-85D772AF99B3}"/>
              </a:ext>
            </a:extLst>
          </p:cNvPr>
          <p:cNvSpPr/>
          <p:nvPr/>
        </p:nvSpPr>
        <p:spPr>
          <a:xfrm>
            <a:off x="0" y="0"/>
            <a:ext cx="664633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8B4177-8649-4F44-AE4C-E9D21E675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658" y="406400"/>
            <a:ext cx="9144000" cy="1193800"/>
          </a:xfrm>
        </p:spPr>
        <p:txBody>
          <a:bodyPr anchor="t"/>
          <a:lstStyle/>
          <a:p>
            <a:pPr algn="l"/>
            <a:r>
              <a:rPr lang="pt-BR" dirty="0" err="1">
                <a:latin typeface="Bahnschrift SemiBold" panose="020B0502040204020203" pitchFamily="34" charset="0"/>
              </a:rPr>
              <a:t>KmSafe</a:t>
            </a:r>
            <a:endParaRPr lang="pt-BR" dirty="0">
              <a:latin typeface="Bahnschrift SemiBold" panose="020B0502040204020203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C75C5D-48CF-4D8F-B2C3-EC083780D59E}"/>
              </a:ext>
            </a:extLst>
          </p:cNvPr>
          <p:cNvSpPr/>
          <p:nvPr/>
        </p:nvSpPr>
        <p:spPr>
          <a:xfrm>
            <a:off x="495993" y="1263535"/>
            <a:ext cx="3288607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E9F018-9843-4043-907F-43D8AE0084F9}"/>
              </a:ext>
            </a:extLst>
          </p:cNvPr>
          <p:cNvSpPr txBox="1"/>
          <p:nvPr/>
        </p:nvSpPr>
        <p:spPr>
          <a:xfrm>
            <a:off x="457893" y="4870708"/>
            <a:ext cx="42893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1200" b="1" dirty="0">
                <a:latin typeface="Bahnschrift Light" panose="020B0502040204020203" pitchFamily="34" charset="0"/>
              </a:rPr>
              <a:t>Integrantes:</a:t>
            </a:r>
          </a:p>
          <a:p>
            <a:pPr fontAlgn="base"/>
            <a:r>
              <a:rPr lang="pt-BR" sz="1200" dirty="0">
                <a:latin typeface="Bahnschrift Light" panose="020B0502040204020203" pitchFamily="34" charset="0"/>
              </a:rPr>
              <a:t>Lucas Felipe Alves de Lima - </a:t>
            </a:r>
            <a:r>
              <a:rPr lang="pt-BR" sz="1200" dirty="0">
                <a:solidFill>
                  <a:srgbClr val="29529B"/>
                </a:solidFill>
                <a:latin typeface="Bahnschrift Light" panose="020B0502040204020203" pitchFamily="34" charset="0"/>
              </a:rPr>
              <a:t>RA: 12826134618 </a:t>
            </a:r>
          </a:p>
          <a:p>
            <a:pPr fontAlgn="base"/>
            <a:r>
              <a:rPr lang="pt-BR" sz="1200" dirty="0">
                <a:latin typeface="Bahnschrift Light" panose="020B0502040204020203" pitchFamily="34" charset="0"/>
              </a:rPr>
              <a:t>Zidane de Brito Pegado - </a:t>
            </a:r>
            <a:r>
              <a:rPr lang="pt-BR" sz="1200" dirty="0">
                <a:solidFill>
                  <a:srgbClr val="29529B"/>
                </a:solidFill>
                <a:latin typeface="Bahnschrift Light" panose="020B0502040204020203" pitchFamily="34" charset="0"/>
              </a:rPr>
              <a:t>RA: 12826133273 </a:t>
            </a:r>
          </a:p>
          <a:p>
            <a:pPr fontAlgn="base"/>
            <a:r>
              <a:rPr lang="pt-BR" sz="1200" dirty="0">
                <a:latin typeface="Bahnschrift Light" panose="020B0502040204020203" pitchFamily="34" charset="0"/>
              </a:rPr>
              <a:t>Pedro Arthur Gomes </a:t>
            </a:r>
            <a:r>
              <a:rPr lang="pt-BR" sz="1200" dirty="0" err="1">
                <a:latin typeface="Bahnschrift Light" panose="020B0502040204020203" pitchFamily="34" charset="0"/>
              </a:rPr>
              <a:t>Targino</a:t>
            </a:r>
            <a:r>
              <a:rPr lang="pt-BR" sz="1200" dirty="0">
                <a:latin typeface="Bahnschrift Light" panose="020B0502040204020203" pitchFamily="34" charset="0"/>
              </a:rPr>
              <a:t> - </a:t>
            </a:r>
            <a:r>
              <a:rPr lang="pt-BR" sz="1200" dirty="0">
                <a:solidFill>
                  <a:srgbClr val="29529B"/>
                </a:solidFill>
                <a:latin typeface="Bahnschrift Light" panose="020B0502040204020203" pitchFamily="34" charset="0"/>
              </a:rPr>
              <a:t>RA: 12825131616 </a:t>
            </a:r>
          </a:p>
          <a:p>
            <a:pPr fontAlgn="base"/>
            <a:r>
              <a:rPr lang="pt-BR" sz="1200" dirty="0">
                <a:latin typeface="Bahnschrift Light" panose="020B0502040204020203" pitchFamily="34" charset="0"/>
              </a:rPr>
              <a:t>Maria Luiza Fonseca da Costa - </a:t>
            </a:r>
            <a:r>
              <a:rPr lang="pt-BR" sz="1200" dirty="0">
                <a:solidFill>
                  <a:srgbClr val="29529B"/>
                </a:solidFill>
                <a:latin typeface="Bahnschrift Light" panose="020B0502040204020203" pitchFamily="34" charset="0"/>
              </a:rPr>
              <a:t>RA: 1282616195 </a:t>
            </a:r>
          </a:p>
          <a:p>
            <a:pPr fontAlgn="base"/>
            <a:r>
              <a:rPr lang="pt-BR" sz="1200" dirty="0" err="1">
                <a:latin typeface="Bahnschrift Light" panose="020B0502040204020203" pitchFamily="34" charset="0"/>
              </a:rPr>
              <a:t>Suzan</a:t>
            </a:r>
            <a:r>
              <a:rPr lang="pt-BR" sz="1200" dirty="0">
                <a:latin typeface="Bahnschrift Light" panose="020B0502040204020203" pitchFamily="34" charset="0"/>
              </a:rPr>
              <a:t> </a:t>
            </a:r>
            <a:r>
              <a:rPr lang="pt-BR" sz="1200" dirty="0" err="1">
                <a:latin typeface="Bahnschrift Light" panose="020B0502040204020203" pitchFamily="34" charset="0"/>
              </a:rPr>
              <a:t>Luany</a:t>
            </a:r>
            <a:r>
              <a:rPr lang="pt-BR" sz="1200" dirty="0">
                <a:latin typeface="Bahnschrift Light" panose="020B0502040204020203" pitchFamily="34" charset="0"/>
              </a:rPr>
              <a:t> de Oliveira Nascimento - </a:t>
            </a:r>
            <a:r>
              <a:rPr lang="pt-BR" sz="1200" dirty="0">
                <a:solidFill>
                  <a:srgbClr val="29529B"/>
                </a:solidFill>
                <a:latin typeface="Bahnschrift Light" panose="020B0502040204020203" pitchFamily="34" charset="0"/>
              </a:rPr>
              <a:t>RA: 825132520 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463D331-7F4A-4805-8E33-56AC09039722}"/>
              </a:ext>
            </a:extLst>
          </p:cNvPr>
          <p:cNvSpPr txBox="1"/>
          <p:nvPr/>
        </p:nvSpPr>
        <p:spPr>
          <a:xfrm>
            <a:off x="495993" y="1617961"/>
            <a:ext cx="455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Bahnschrift SemiBold" panose="020B0502040204020203" pitchFamily="34" charset="0"/>
              </a:rPr>
              <a:t>Interação Humano Computador e UX</a:t>
            </a:r>
            <a:r>
              <a:rPr lang="pt-BR" dirty="0"/>
              <a:t> 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48F1D2D-FD42-4055-8DA5-3A03A0CF6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023" y="209994"/>
            <a:ext cx="1829324" cy="35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9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84AC649-05E6-4E25-9B5F-D6B9D19EE6CD}"/>
              </a:ext>
            </a:extLst>
          </p:cNvPr>
          <p:cNvSpPr/>
          <p:nvPr/>
        </p:nvSpPr>
        <p:spPr>
          <a:xfrm>
            <a:off x="490221" y="1968038"/>
            <a:ext cx="4821382" cy="3366655"/>
          </a:xfrm>
          <a:prstGeom prst="roundRect">
            <a:avLst>
              <a:gd name="adj" fmla="val 50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8B4177-8649-4F44-AE4C-E9D21E675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978" y="525195"/>
            <a:ext cx="9144000" cy="646331"/>
          </a:xfrm>
        </p:spPr>
        <p:txBody>
          <a:bodyPr anchor="t">
            <a:normAutofit/>
          </a:bodyPr>
          <a:lstStyle/>
          <a:p>
            <a:pPr algn="l"/>
            <a:r>
              <a:rPr lang="pt-BR" sz="3600" dirty="0">
                <a:latin typeface="Bahnschrift SemiBold" panose="020B0502040204020203" pitchFamily="34" charset="0"/>
              </a:rPr>
              <a:t>OBJETIVO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C75C5D-48CF-4D8F-B2C3-EC083780D59E}"/>
              </a:ext>
            </a:extLst>
          </p:cNvPr>
          <p:cNvSpPr/>
          <p:nvPr/>
        </p:nvSpPr>
        <p:spPr>
          <a:xfrm rot="5400000">
            <a:off x="-213706" y="757267"/>
            <a:ext cx="609599" cy="18218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E9F018-9843-4043-907F-43D8AE0084F9}"/>
              </a:ext>
            </a:extLst>
          </p:cNvPr>
          <p:cNvSpPr txBox="1"/>
          <p:nvPr/>
        </p:nvSpPr>
        <p:spPr>
          <a:xfrm>
            <a:off x="587896" y="2081704"/>
            <a:ext cx="46260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pt-BR" dirty="0">
                <a:latin typeface="Bahnschrift Light" panose="020B0502040204020203" pitchFamily="34" charset="0"/>
              </a:rPr>
              <a:t>O objetivo deste projeto é desenvolver o </a:t>
            </a:r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KM-Safe</a:t>
            </a:r>
            <a:r>
              <a:rPr lang="pt-BR" dirty="0">
                <a:latin typeface="Bahnschrift Light" panose="020B0502040204020203" pitchFamily="34" charset="0"/>
              </a:rPr>
              <a:t>, aplicativo inspirado no modelo da Uber. </a:t>
            </a:r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Com foco em segurança, confiabilidade e eficiência.</a:t>
            </a:r>
          </a:p>
          <a:p>
            <a:pPr algn="just" fontAlgn="base"/>
            <a:endParaRPr lang="pt-BR" b="1" dirty="0">
              <a:solidFill>
                <a:srgbClr val="29529B"/>
              </a:solidFill>
              <a:latin typeface="Bahnschrift SemiBold" panose="020B0502040204020203" pitchFamily="34" charset="0"/>
            </a:endParaRPr>
          </a:p>
          <a:p>
            <a:pPr algn="just" fontAlgn="base"/>
            <a:r>
              <a:rPr lang="pt-BR" dirty="0">
                <a:latin typeface="Bahnschrift Light" panose="020B0502040204020203" pitchFamily="34" charset="0"/>
              </a:rPr>
              <a:t>A plataforma contará com um sistema de validação rigorosa para cadastros de motoristas. Diminuindo casos de falsidade ideológica, insatisfação dos passageiros na hora de fazer seu trajeto e trazendo uma melhor experiencia para o usuário. 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35C0D30-C937-49D4-9AB1-F05C12FE4A44}"/>
              </a:ext>
            </a:extLst>
          </p:cNvPr>
          <p:cNvSpPr/>
          <p:nvPr/>
        </p:nvSpPr>
        <p:spPr>
          <a:xfrm>
            <a:off x="5777345" y="0"/>
            <a:ext cx="6414655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62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84AC649-05E6-4E25-9B5F-D6B9D19EE6CD}"/>
              </a:ext>
            </a:extLst>
          </p:cNvPr>
          <p:cNvSpPr/>
          <p:nvPr/>
        </p:nvSpPr>
        <p:spPr>
          <a:xfrm>
            <a:off x="2368652" y="1639655"/>
            <a:ext cx="9382955" cy="923150"/>
          </a:xfrm>
          <a:prstGeom prst="roundRect">
            <a:avLst>
              <a:gd name="adj" fmla="val 1718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8B4177-8649-4F44-AE4C-E9D21E675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6421" y="717701"/>
            <a:ext cx="9144000" cy="646331"/>
          </a:xfrm>
        </p:spPr>
        <p:txBody>
          <a:bodyPr anchor="t">
            <a:normAutofit fontScale="90000"/>
          </a:bodyPr>
          <a:lstStyle/>
          <a:p>
            <a:pPr algn="l"/>
            <a:r>
              <a:rPr lang="pt-BR" sz="4000" dirty="0">
                <a:latin typeface="Bahnschrift SemiBold" panose="020B0502040204020203" pitchFamily="34" charset="0"/>
              </a:rPr>
              <a:t>ESCOPOS E ARTEFATOS OBRIGATÓRIOS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C75C5D-48CF-4D8F-B2C3-EC083780D59E}"/>
              </a:ext>
            </a:extLst>
          </p:cNvPr>
          <p:cNvSpPr/>
          <p:nvPr/>
        </p:nvSpPr>
        <p:spPr>
          <a:xfrm rot="5400000">
            <a:off x="2317737" y="949773"/>
            <a:ext cx="609599" cy="18218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1110F58-1428-43A7-BF1E-9EB18767B46F}"/>
              </a:ext>
            </a:extLst>
          </p:cNvPr>
          <p:cNvSpPr/>
          <p:nvPr/>
        </p:nvSpPr>
        <p:spPr>
          <a:xfrm>
            <a:off x="2368651" y="2747168"/>
            <a:ext cx="9382955" cy="2274141"/>
          </a:xfrm>
          <a:prstGeom prst="roundRect">
            <a:avLst>
              <a:gd name="adj" fmla="val 702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84532EA-09E4-4E64-8A65-0092286BE341}"/>
              </a:ext>
            </a:extLst>
          </p:cNvPr>
          <p:cNvSpPr/>
          <p:nvPr/>
        </p:nvSpPr>
        <p:spPr>
          <a:xfrm>
            <a:off x="2368651" y="5205673"/>
            <a:ext cx="9382955" cy="1319638"/>
          </a:xfrm>
          <a:prstGeom prst="roundRect">
            <a:avLst>
              <a:gd name="adj" fmla="val 121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E9F018-9843-4043-907F-43D8AE0084F9}"/>
              </a:ext>
            </a:extLst>
          </p:cNvPr>
          <p:cNvSpPr txBox="1"/>
          <p:nvPr/>
        </p:nvSpPr>
        <p:spPr>
          <a:xfrm>
            <a:off x="3217026" y="1753320"/>
            <a:ext cx="83044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O PROBLEMA:</a:t>
            </a:r>
          </a:p>
          <a:p>
            <a:pPr algn="just" fontAlgn="base"/>
            <a:r>
              <a:rPr lang="pt-BR" dirty="0">
                <a:latin typeface="Bahnschrift Light" panose="020B0502040204020203" pitchFamily="34" charset="0"/>
              </a:rPr>
              <a:t>O problema seria questão de segurança e vulnerabilidade dos clientes.</a:t>
            </a:r>
          </a:p>
          <a:p>
            <a:pPr algn="just" fontAlgn="base"/>
            <a:endParaRPr lang="pt-BR" dirty="0">
              <a:latin typeface="Bahnschrift Light" panose="020B0502040204020203" pitchFamily="34" charset="0"/>
            </a:endParaRPr>
          </a:p>
          <a:p>
            <a:pPr algn="just" fontAlgn="base"/>
            <a:endParaRPr lang="pt-BR" dirty="0">
              <a:latin typeface="Bahnschrift Light" panose="020B0502040204020203" pitchFamily="34" charset="0"/>
            </a:endParaRPr>
          </a:p>
          <a:p>
            <a:pPr algn="just" fontAlgn="base"/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A SOLUÇÃO: </a:t>
            </a:r>
          </a:p>
          <a:p>
            <a:pPr marL="285750" indent="-285750" algn="just" fontAlgn="base">
              <a:buFontTx/>
              <a:buChar char="-"/>
            </a:pPr>
            <a:r>
              <a:rPr lang="pt-BR" dirty="0">
                <a:latin typeface="Bahnschrift Light" panose="020B0502040204020203" pitchFamily="34" charset="0"/>
              </a:rPr>
              <a:t>Validação de documentos para poder ser habilitado dentro do app</a:t>
            </a:r>
          </a:p>
          <a:p>
            <a:pPr marL="285750" indent="-285750" algn="just" fontAlgn="base">
              <a:buFontTx/>
              <a:buChar char="-"/>
            </a:pPr>
            <a:r>
              <a:rPr lang="pt-BR" dirty="0">
                <a:latin typeface="Bahnschrift Light" panose="020B0502040204020203" pitchFamily="34" charset="0"/>
              </a:rPr>
              <a:t>Um maior período de habilitado</a:t>
            </a:r>
          </a:p>
          <a:p>
            <a:pPr marL="285750" indent="-285750" algn="just" fontAlgn="base">
              <a:buFontTx/>
              <a:buChar char="-"/>
            </a:pPr>
            <a:r>
              <a:rPr lang="pt-BR" dirty="0">
                <a:latin typeface="Bahnschrift Light" panose="020B0502040204020203" pitchFamily="34" charset="0"/>
              </a:rPr>
              <a:t>Antecedentes criminais na hora da criação da conta no app</a:t>
            </a:r>
          </a:p>
          <a:p>
            <a:pPr marL="285750" indent="-285750" algn="just" fontAlgn="base">
              <a:buFontTx/>
              <a:buChar char="-"/>
            </a:pPr>
            <a:r>
              <a:rPr lang="pt-BR" dirty="0">
                <a:latin typeface="Bahnschrift Light" panose="020B0502040204020203" pitchFamily="34" charset="0"/>
              </a:rPr>
              <a:t>Acesso facial no início/fim de cada corrida</a:t>
            </a:r>
          </a:p>
          <a:p>
            <a:pPr marL="285750" indent="-285750" algn="just" fontAlgn="base">
              <a:buFontTx/>
              <a:buChar char="-"/>
            </a:pPr>
            <a:r>
              <a:rPr lang="pt-BR" dirty="0">
                <a:latin typeface="Bahnschrift Light" panose="020B0502040204020203" pitchFamily="34" charset="0"/>
              </a:rPr>
              <a:t>Cobrança para o motorista em caso de cancelamento de corrida partindo dele após 2 minutos de ter aceitado.</a:t>
            </a:r>
          </a:p>
          <a:p>
            <a:pPr marL="285750" indent="-285750" algn="just" fontAlgn="base">
              <a:buFontTx/>
              <a:buChar char="-"/>
            </a:pPr>
            <a:endParaRPr lang="pt-BR" dirty="0">
              <a:latin typeface="Bahnschrift Light" panose="020B0502040204020203" pitchFamily="34" charset="0"/>
            </a:endParaRPr>
          </a:p>
          <a:p>
            <a:pPr marL="285750" indent="-285750" algn="just" fontAlgn="base">
              <a:buFontTx/>
              <a:buChar char="-"/>
            </a:pPr>
            <a:endParaRPr lang="pt-BR" dirty="0">
              <a:latin typeface="Bahnschrift Light" panose="020B0502040204020203" pitchFamily="34" charset="0"/>
            </a:endParaRPr>
          </a:p>
          <a:p>
            <a:pPr algn="just" fontAlgn="base"/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PÚBLICO-ALVO:</a:t>
            </a:r>
          </a:p>
          <a:p>
            <a:pPr algn="just" fontAlgn="base"/>
            <a:r>
              <a:rPr lang="pt-BR" dirty="0">
                <a:latin typeface="Bahnschrift Light" panose="020B0502040204020203" pitchFamily="34" charset="0"/>
              </a:rPr>
              <a:t>Pessoas que se sentem inseguras em aplicativos de corrida e aqueles que querem garantir maior bem-estar em situações que sejam necessário o uso.   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47BB0C-2385-4638-8BB4-16C8EFAA7BA2}"/>
              </a:ext>
            </a:extLst>
          </p:cNvPr>
          <p:cNvSpPr/>
          <p:nvPr/>
        </p:nvSpPr>
        <p:spPr>
          <a:xfrm>
            <a:off x="-730684" y="-144379"/>
            <a:ext cx="2656573" cy="72959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432D1BC-112B-43EC-8FE2-1F4695007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019" y="1884491"/>
            <a:ext cx="433478" cy="4334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FF4C55C-8EDD-4BAB-A584-61B0EB2EE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739" y="2807641"/>
            <a:ext cx="519783" cy="51978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880F4A5-0F89-4537-A107-EAEE8B3D9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42" y="5327578"/>
            <a:ext cx="457211" cy="457211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B580964-D0EA-409D-ABAC-D689AE2070A8}"/>
              </a:ext>
            </a:extLst>
          </p:cNvPr>
          <p:cNvCxnSpPr>
            <a:cxnSpLocks/>
          </p:cNvCxnSpPr>
          <p:nvPr/>
        </p:nvCxnSpPr>
        <p:spPr>
          <a:xfrm>
            <a:off x="3116498" y="2859714"/>
            <a:ext cx="0" cy="19534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D8E2A26-1DFD-448F-9FD6-5279CEC4D1EC}"/>
              </a:ext>
            </a:extLst>
          </p:cNvPr>
          <p:cNvCxnSpPr>
            <a:cxnSpLocks/>
          </p:cNvCxnSpPr>
          <p:nvPr/>
        </p:nvCxnSpPr>
        <p:spPr>
          <a:xfrm>
            <a:off x="3128740" y="1753320"/>
            <a:ext cx="0" cy="6573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A79C9B2-3548-4FA1-9159-667DAE178C50}"/>
              </a:ext>
            </a:extLst>
          </p:cNvPr>
          <p:cNvCxnSpPr>
            <a:cxnSpLocks/>
          </p:cNvCxnSpPr>
          <p:nvPr/>
        </p:nvCxnSpPr>
        <p:spPr>
          <a:xfrm>
            <a:off x="3108186" y="5327578"/>
            <a:ext cx="0" cy="104828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47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B4177-8649-4F44-AE4C-E9D21E675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978" y="525195"/>
            <a:ext cx="9144000" cy="646331"/>
          </a:xfrm>
        </p:spPr>
        <p:txBody>
          <a:bodyPr anchor="t">
            <a:normAutofit/>
          </a:bodyPr>
          <a:lstStyle/>
          <a:p>
            <a:pPr algn="l"/>
            <a:r>
              <a:rPr lang="pt-BR" sz="3600" dirty="0">
                <a:latin typeface="Bahnschrift SemiBold" panose="020B0502040204020203" pitchFamily="34" charset="0"/>
              </a:rPr>
              <a:t>ENGENHARIA DE REQUISITOS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C75C5D-48CF-4D8F-B2C3-EC083780D59E}"/>
              </a:ext>
            </a:extLst>
          </p:cNvPr>
          <p:cNvSpPr/>
          <p:nvPr/>
        </p:nvSpPr>
        <p:spPr>
          <a:xfrm rot="5400000">
            <a:off x="-213706" y="757267"/>
            <a:ext cx="609599" cy="18218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1110F58-1428-43A7-BF1E-9EB18767B46F}"/>
              </a:ext>
            </a:extLst>
          </p:cNvPr>
          <p:cNvSpPr/>
          <p:nvPr/>
        </p:nvSpPr>
        <p:spPr>
          <a:xfrm>
            <a:off x="259882" y="1422633"/>
            <a:ext cx="5646821" cy="5214388"/>
          </a:xfrm>
          <a:prstGeom prst="roundRect">
            <a:avLst>
              <a:gd name="adj" fmla="val 259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E9F018-9843-4043-907F-43D8AE0084F9}"/>
              </a:ext>
            </a:extLst>
          </p:cNvPr>
          <p:cNvSpPr txBox="1"/>
          <p:nvPr/>
        </p:nvSpPr>
        <p:spPr>
          <a:xfrm>
            <a:off x="302430" y="1490670"/>
            <a:ext cx="55617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Requisitos Funcionais (</a:t>
            </a:r>
            <a:r>
              <a:rPr lang="pt-BR" b="1" dirty="0" err="1">
                <a:solidFill>
                  <a:srgbClr val="29529B"/>
                </a:solidFill>
                <a:latin typeface="Bahnschrift SemiBold" panose="020B0502040204020203" pitchFamily="34" charset="0"/>
              </a:rPr>
              <a:t>RFs</a:t>
            </a:r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):</a:t>
            </a:r>
          </a:p>
          <a:p>
            <a:pPr algn="just" fontAlgn="base"/>
            <a:endParaRPr lang="pt-BR" b="1" dirty="0">
              <a:solidFill>
                <a:srgbClr val="29529B"/>
              </a:solidFill>
              <a:latin typeface="Bahnschrift SemiBold" panose="020B0502040204020203" pitchFamily="34" charset="0"/>
            </a:endParaRP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latin typeface="Bahnschrift SemiBold" panose="020B0502040204020203" pitchFamily="34" charset="0"/>
              </a:rPr>
              <a:t>RF01</a:t>
            </a:r>
            <a:r>
              <a:rPr lang="pt-BR" sz="1600" dirty="0">
                <a:latin typeface="Bahnschrift Light" panose="020B0502040204020203" pitchFamily="34" charset="0"/>
              </a:rPr>
              <a:t> - </a:t>
            </a:r>
            <a:r>
              <a:rPr lang="pt-BR" sz="1600" dirty="0">
                <a:latin typeface="Bahnschrift SemiBold" panose="020B0502040204020203" pitchFamily="34" charset="0"/>
              </a:rPr>
              <a:t>Cadastro e validação de motoristas:</a:t>
            </a:r>
            <a:r>
              <a:rPr lang="pt-BR" sz="1600" dirty="0">
                <a:latin typeface="Bahnschrift Light" panose="020B0502040204020203" pitchFamily="34" charset="0"/>
              </a:rPr>
              <a:t> O sistema deve permitir o cadastro de motoristas mediante envio de documentos pessoais, CNH, comprovantes exigidos e realizar validação por reconhecimento facial e verificação de antecedentes.</a:t>
            </a: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endParaRPr lang="pt-BR" sz="1600" dirty="0">
              <a:latin typeface="Bahnschrift Light" panose="020B0502040204020203" pitchFamily="34" charset="0"/>
            </a:endParaRP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latin typeface="Bahnschrift SemiBold" panose="020B0502040204020203" pitchFamily="34" charset="0"/>
              </a:rPr>
              <a:t>RF02</a:t>
            </a:r>
            <a:r>
              <a:rPr lang="pt-BR" sz="1600" dirty="0">
                <a:latin typeface="Bahnschrift Light" panose="020B0502040204020203" pitchFamily="34" charset="0"/>
              </a:rPr>
              <a:t> - </a:t>
            </a:r>
            <a:r>
              <a:rPr lang="pt-BR" sz="1600" dirty="0">
                <a:latin typeface="Bahnschrift SemiBold" panose="020B0502040204020203" pitchFamily="34" charset="0"/>
              </a:rPr>
              <a:t>Autenticação facial para início da corrida:</a:t>
            </a:r>
            <a:r>
              <a:rPr lang="pt-BR" sz="1600" dirty="0">
                <a:latin typeface="Bahnschrift Light" panose="020B0502040204020203" pitchFamily="34" charset="0"/>
              </a:rPr>
              <a:t> O sistema deve solicitar e validar o reconhecimento facial do motorista antes do início de cada corrida e após o término, garantindo que o condutor cadastrado seja o responsável pela viagem.</a:t>
            </a: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endParaRPr lang="pt-BR" sz="1600" dirty="0">
              <a:latin typeface="Bahnschrift Light" panose="020B0502040204020203" pitchFamily="34" charset="0"/>
            </a:endParaRP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latin typeface="Bahnschrift SemiBold" panose="020B0502040204020203" pitchFamily="34" charset="0"/>
              </a:rPr>
              <a:t>RF03</a:t>
            </a:r>
            <a:r>
              <a:rPr lang="pt-BR" sz="1600" dirty="0">
                <a:latin typeface="Bahnschrift Light" panose="020B0502040204020203" pitchFamily="34" charset="0"/>
              </a:rPr>
              <a:t> - </a:t>
            </a:r>
            <a:r>
              <a:rPr lang="pt-BR" sz="1600" dirty="0">
                <a:latin typeface="Bahnschrift SemiBold" panose="020B0502040204020203" pitchFamily="34" charset="0"/>
              </a:rPr>
              <a:t>Controle de cancelamento de corridas:</a:t>
            </a:r>
            <a:r>
              <a:rPr lang="pt-BR" sz="1600" dirty="0">
                <a:latin typeface="Bahnschrift Light" panose="020B0502040204020203" pitchFamily="34" charset="0"/>
              </a:rPr>
              <a:t> O sistema deve permitir que o motorista cancele uma corrida apenas dentro do prazo máximo de 2 minutos após a sua aceitação. Após esse período, o cancelamento será taxado, havendo desconto sobre o valor recebido pelo motorista do aplicativo.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75BF1FA-084D-44DD-8170-4BAAA8F54FFC}"/>
              </a:ext>
            </a:extLst>
          </p:cNvPr>
          <p:cNvSpPr/>
          <p:nvPr/>
        </p:nvSpPr>
        <p:spPr>
          <a:xfrm>
            <a:off x="6242749" y="1422633"/>
            <a:ext cx="5646821" cy="5214388"/>
          </a:xfrm>
          <a:prstGeom prst="roundRect">
            <a:avLst>
              <a:gd name="adj" fmla="val 29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CAB1EA-2158-4831-A8DE-FB618E1F9C55}"/>
              </a:ext>
            </a:extLst>
          </p:cNvPr>
          <p:cNvSpPr txBox="1"/>
          <p:nvPr/>
        </p:nvSpPr>
        <p:spPr>
          <a:xfrm>
            <a:off x="6285297" y="1490670"/>
            <a:ext cx="561152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Requisitos Não-Funcionais (</a:t>
            </a:r>
            <a:r>
              <a:rPr lang="pt-BR" b="1" dirty="0" err="1">
                <a:solidFill>
                  <a:srgbClr val="29529B"/>
                </a:solidFill>
                <a:latin typeface="Bahnschrift SemiBold" panose="020B0502040204020203" pitchFamily="34" charset="0"/>
              </a:rPr>
              <a:t>RNFs</a:t>
            </a:r>
            <a:r>
              <a:rPr lang="pt-BR" b="1" dirty="0">
                <a:solidFill>
                  <a:srgbClr val="29529B"/>
                </a:solidFill>
                <a:latin typeface="Bahnschrift SemiBold" panose="020B0502040204020203" pitchFamily="34" charset="0"/>
              </a:rPr>
              <a:t>):</a:t>
            </a:r>
          </a:p>
          <a:p>
            <a:pPr algn="just" fontAlgn="base"/>
            <a:endParaRPr lang="pt-BR" sz="1600" dirty="0">
              <a:latin typeface="Bahnschrift Light" panose="020B0502040204020203" pitchFamily="34" charset="0"/>
            </a:endParaRP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latin typeface="Bahnschrift SemiBold" panose="020B0502040204020203" pitchFamily="34" charset="0"/>
              </a:rPr>
              <a:t>RNF01 </a:t>
            </a:r>
            <a:r>
              <a:rPr lang="pt-BR" sz="1600" dirty="0">
                <a:latin typeface="Bahnschrift Light" panose="020B0502040204020203" pitchFamily="34" charset="0"/>
              </a:rPr>
              <a:t>– </a:t>
            </a:r>
            <a:r>
              <a:rPr lang="pt-BR" sz="1600" dirty="0">
                <a:latin typeface="Bahnschrift SemiBold" panose="020B0502040204020203" pitchFamily="34" charset="0"/>
              </a:rPr>
              <a:t>Segurança:</a:t>
            </a:r>
            <a:r>
              <a:rPr lang="pt-BR" sz="1600" dirty="0">
                <a:latin typeface="Bahnschrift Light" panose="020B0502040204020203" pitchFamily="34" charset="0"/>
              </a:rPr>
              <a:t> O sistema deve proteger os dados pessoais dos usuários e motoristas por meio de criptografia e armazenamento seguro, atendendo às normas de proteção de dados vigentes.</a:t>
            </a: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endParaRPr lang="pt-BR" sz="1600" dirty="0">
              <a:latin typeface="Bahnschrift Light" panose="020B0502040204020203" pitchFamily="34" charset="0"/>
            </a:endParaRP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latin typeface="Bahnschrift SemiBold" panose="020B0502040204020203" pitchFamily="34" charset="0"/>
              </a:rPr>
              <a:t>RNF02</a:t>
            </a:r>
            <a:r>
              <a:rPr lang="pt-BR" sz="1600" dirty="0">
                <a:latin typeface="Bahnschrift Light" panose="020B0502040204020203" pitchFamily="34" charset="0"/>
              </a:rPr>
              <a:t> -</a:t>
            </a:r>
            <a:r>
              <a:rPr lang="pt-BR" sz="1600" dirty="0">
                <a:latin typeface="Bahnschrift SemiBold" panose="020B0502040204020203" pitchFamily="34" charset="0"/>
              </a:rPr>
              <a:t> Desempenho:</a:t>
            </a:r>
            <a:r>
              <a:rPr lang="pt-BR" sz="1600" dirty="0">
                <a:latin typeface="Bahnschrift Light" panose="020B0502040204020203" pitchFamily="34" charset="0"/>
              </a:rPr>
              <a:t> O processo de reconhecimento facial deve ser concluído em até 5 segundos, garantindo agilidade no início das corridas.</a:t>
            </a: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endParaRPr lang="pt-BR" sz="1600" dirty="0">
              <a:latin typeface="Bahnschrift Light" panose="020B0502040204020203" pitchFamily="34" charset="0"/>
            </a:endParaRPr>
          </a:p>
          <a:p>
            <a:pPr marL="285750" indent="-285750" algn="just" fontAlgn="base">
              <a:buClr>
                <a:srgbClr val="29529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latin typeface="Bahnschrift SemiBold" panose="020B0502040204020203" pitchFamily="34" charset="0"/>
              </a:rPr>
              <a:t>RNF03</a:t>
            </a:r>
            <a:r>
              <a:rPr lang="pt-BR" sz="1600" dirty="0">
                <a:latin typeface="Bahnschrift Light" panose="020B0502040204020203" pitchFamily="34" charset="0"/>
              </a:rPr>
              <a:t> –</a:t>
            </a:r>
            <a:r>
              <a:rPr lang="pt-BR" sz="1600" dirty="0">
                <a:latin typeface="Bahnschrift SemiBold" panose="020B0502040204020203" pitchFamily="34" charset="0"/>
              </a:rPr>
              <a:t> Disponibilidade:</a:t>
            </a:r>
            <a:r>
              <a:rPr lang="pt-BR" sz="1600" dirty="0">
                <a:latin typeface="Bahnschrift Light" panose="020B0502040204020203" pitchFamily="34" charset="0"/>
              </a:rPr>
              <a:t> A plataforma deve manter disponibilidade mínima de 99,5% do tempo, assegurando acesso contínuo aos serviços de solicitação e gerenciamento de corridas.</a:t>
            </a:r>
          </a:p>
        </p:txBody>
      </p:sp>
    </p:spTree>
    <p:extLst>
      <p:ext uri="{BB962C8B-B14F-4D97-AF65-F5344CB8AC3E}">
        <p14:creationId xmlns:p14="http://schemas.microsoft.com/office/powerpoint/2010/main" val="3399370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442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Bahnschrift Light</vt:lpstr>
      <vt:lpstr>Bahnschrift SemiBold</vt:lpstr>
      <vt:lpstr>Calibri</vt:lpstr>
      <vt:lpstr>Calibri Light</vt:lpstr>
      <vt:lpstr>Tema do Office</vt:lpstr>
      <vt:lpstr>KmSafe</vt:lpstr>
      <vt:lpstr>OBJETIVO</vt:lpstr>
      <vt:lpstr>ESCOPOS E ARTEFATOS OBRIGATÓRIOS</vt:lpstr>
      <vt:lpstr>ENGENHARIA DE REQUISITOS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KmSafe</dc:title>
  <dc:creator>MARIA LUIZA FONSECA DA COSTA</dc:creator>
  <cp:lastModifiedBy>Lucas Felipe</cp:lastModifiedBy>
  <cp:revision>11</cp:revision>
  <dcterms:created xsi:type="dcterms:W3CDTF">2026-06-09T23:42:44Z</dcterms:created>
  <dcterms:modified xsi:type="dcterms:W3CDTF">2026-06-18T16:46:06Z</dcterms:modified>
</cp:coreProperties>
</file>